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peer-to-peer campus resale marketplace built on Java Servlets, demonstrating cookies vs sessions, JDBC persistence, and an in-app wallet.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accounts: asha@campus.edu / rahul@campus.edu / neha@campus.edu, password 'password'. Start the app with run.cmd, open http://localhost:8080/.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0" y="-548640"/>
            <a:ext cx="5486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24471F"/>
                </a:solidFill>
              </a:rPr>
              <a:t>♻</a:t>
            </a:r>
            <a:endParaRPr lang="en-US" sz="30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2  ·  WEB TECHNOLOGIES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Circular Campus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Resale, Cart &amp; Wallet  —  buy and sell within campus, sustainably.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1623060" cy="40233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6FA6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709160"/>
            <a:ext cx="1623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Servlets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354580" y="4709160"/>
            <a:ext cx="2148840" cy="40233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6FA6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54580" y="470916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&amp; Sessions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86300" y="4709160"/>
            <a:ext cx="676656" cy="40233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6FA6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86300" y="4709160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545836" y="4709160"/>
            <a:ext cx="1307592" cy="40233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6FA6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45836" y="4709160"/>
            <a:ext cx="1307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H2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______________________     ·     Roll no: 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6F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resale is booming — but the tools are clunky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53384" cy="3566160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868680" cy="868680"/>
          </a:xfrm>
          <a:prstGeom prst="ellipse">
            <a:avLst/>
          </a:prstGeom>
          <a:solidFill>
            <a:srgbClr val="6FA6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286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♻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37560"/>
            <a:ext cx="2721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Circular economy is here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977640"/>
            <a:ext cx="2721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Thrift, refurbished gadgets and campus swap markets are among the fastest-growing e-commerce categories going into 2026.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67784" y="1874520"/>
            <a:ext cx="3453384" cy="3566160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9264" y="2286000"/>
            <a:ext cx="868680" cy="868680"/>
          </a:xfrm>
          <a:prstGeom prst="ellipse">
            <a:avLst/>
          </a:prstGeom>
          <a:solidFill>
            <a:srgbClr val="6FA66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79264" y="2286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📚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4733544" y="3337560"/>
            <a:ext cx="2721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hostel has the need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33544" y="3977640"/>
            <a:ext cx="2721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Textbooks, calculators, lamps and furniture change hands every semester — usually over scattered WhatsApp groups.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186928" y="1874520"/>
            <a:ext cx="3453384" cy="3566160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8408" y="2286000"/>
            <a:ext cx="868680" cy="868680"/>
          </a:xfrm>
          <a:prstGeom prst="ellipse">
            <a:avLst/>
          </a:prstGeom>
          <a:solidFill>
            <a:srgbClr val="6FA6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98408" y="2286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🚶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8552688" y="3337560"/>
            <a:ext cx="2721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Guests get blocked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552688" y="3977640"/>
            <a:ext cx="2721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marketplaces force you to sign up before you can even look. People leave before they browse.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answer: a campus-specific marketplace that lets you browse as a guest and pay from an in-app wallet.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UNIQUE SELLING POINT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 as a guest, keep your cart when you sign in, </a:t>
            </a:r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E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pay from a real in-app wallet</a:t>
            </a:r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where reusing stuff earns you rewards.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3611880"/>
            <a:ext cx="3453384" cy="2423160"/>
          </a:xfrm>
          <a:prstGeom prst="roundRect">
            <a:avLst>
              <a:gd name="adj" fmla="val 4528"/>
            </a:avLst>
          </a:prstGeom>
          <a:solidFill>
            <a:srgbClr val="24521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3931920"/>
            <a:ext cx="777240" cy="777240"/>
          </a:xfrm>
          <a:prstGeom prst="ellipse">
            <a:avLst/>
          </a:prstGeom>
          <a:solidFill>
            <a:srgbClr val="C9E0B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3931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7331A"/>
                </a:solidFill>
              </a:rPr>
              <a:t>🍪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846320"/>
            <a:ext cx="272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Cookie → session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303520"/>
            <a:ext cx="2721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follows you from guest to logged-in — nothing lost.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67784" y="3611880"/>
            <a:ext cx="3453384" cy="2423160"/>
          </a:xfrm>
          <a:prstGeom prst="roundRect">
            <a:avLst>
              <a:gd name="adj" fmla="val 4528"/>
            </a:avLst>
          </a:prstGeom>
          <a:solidFill>
            <a:srgbClr val="24521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3544" y="3931920"/>
            <a:ext cx="777240" cy="777240"/>
          </a:xfrm>
          <a:prstGeom prst="ellipse">
            <a:avLst/>
          </a:prstGeom>
          <a:solidFill>
            <a:srgbClr val="C9E0B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33544" y="3931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7331A"/>
                </a:solidFill>
              </a:rPr>
              <a:t>💰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733544" y="4846320"/>
            <a:ext cx="272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 economy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33544" y="5303520"/>
            <a:ext cx="2721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money moves from buyer to seller at checkout.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86928" y="3611880"/>
            <a:ext cx="3453384" cy="2423160"/>
          </a:xfrm>
          <a:prstGeom prst="roundRect">
            <a:avLst>
              <a:gd name="adj" fmla="val 4528"/>
            </a:avLst>
          </a:prstGeom>
          <a:solidFill>
            <a:srgbClr val="24521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52688" y="3931920"/>
            <a:ext cx="777240" cy="777240"/>
          </a:xfrm>
          <a:prstGeom prst="ellipse">
            <a:avLst/>
          </a:prstGeom>
          <a:solidFill>
            <a:srgbClr val="C9E0B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52688" y="3931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7331A"/>
                </a:solidFill>
              </a:rPr>
              <a:t>🌱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552688" y="4846320"/>
            <a:ext cx="272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rewards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552688" y="5303520"/>
            <a:ext cx="2721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you rehome earns sustainability points.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6F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core modules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2956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960120" cy="9601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</a:rPr>
              <a:t>📦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2103120"/>
            <a:ext cx="34427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Listings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2606040"/>
            <a:ext cx="3442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 and remove a resale listing with category, price and condition.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77356" y="1783080"/>
            <a:ext cx="5362956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43116" y="2194560"/>
            <a:ext cx="960120" cy="9601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43116" y="21945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</a:rPr>
              <a:t>🔍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877556" y="2103120"/>
            <a:ext cx="34427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&amp; Search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7877556" y="2606040"/>
            <a:ext cx="3442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text, category and max price. Open to guests, with a cookie-based “recently viewed” strip.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62956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343400"/>
            <a:ext cx="960120" cy="9601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343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</a:rPr>
              <a:t>🛒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2148840" y="4251960"/>
            <a:ext cx="34427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 &amp; Wallet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2148840" y="4754880"/>
            <a:ext cx="3442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cart and a checkout that deducts your in-app wallet balance.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77356" y="3931920"/>
            <a:ext cx="5362956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43116" y="4343400"/>
            <a:ext cx="960120" cy="9601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43116" y="4343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</a:rPr>
              <a:t>📜</a:t>
            </a:r>
            <a:endParaRPr lang="en-US" sz="2300" dirty="0"/>
          </a:p>
        </p:txBody>
      </p:sp>
      <p:sp>
        <p:nvSpPr>
          <p:cNvPr id="22" name="Text 20"/>
          <p:cNvSpPr txBox="1"/>
          <p:nvPr/>
        </p:nvSpPr>
        <p:spPr>
          <a:xfrm>
            <a:off x="7877556" y="4251960"/>
            <a:ext cx="34427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History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7877556" y="4754880"/>
            <a:ext cx="3442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buyer (purchases) and seller (sales) views of every deal.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6F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STANDOUT FEATURES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ours goes further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01952"/>
            <a:ext cx="548640" cy="548640"/>
          </a:xfrm>
          <a:prstGeom prst="ellipse">
            <a:avLst/>
          </a:prstGeom>
          <a:solidFill>
            <a:srgbClr val="6FA6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🍪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3794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 cart → account migration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1837944"/>
            <a:ext cx="6153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items without logging in (saved in a cookie); the moment you sign in they move into your session. The exact cookies-vs-sessions concept, shown as a real benefit.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11091672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2798064"/>
            <a:ext cx="548640" cy="548640"/>
          </a:xfrm>
          <a:prstGeom prst="ellipse">
            <a:avLst/>
          </a:prstGeom>
          <a:solidFill>
            <a:srgbClr val="6FA66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2798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💰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734056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wallet economy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734056"/>
            <a:ext cx="6153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actually transfers money from the buyer’s wallet to the seller’s — atomically, all-or-nothing. Not a fake “order placed” button.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75304"/>
            <a:ext cx="11091672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694176"/>
            <a:ext cx="548640" cy="548640"/>
          </a:xfrm>
          <a:prstGeom prst="ellipse">
            <a:avLst/>
          </a:prstGeom>
          <a:solidFill>
            <a:srgbClr val="6FA6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3694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🌱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63016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 points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3630168"/>
            <a:ext cx="6153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rehomed item earns green points on your profile — a unique hook tied to the circular-economy theme.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471416"/>
            <a:ext cx="11091672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590288"/>
            <a:ext cx="548640" cy="548640"/>
          </a:xfrm>
          <a:prstGeom prst="ellipse">
            <a:avLst/>
          </a:prstGeom>
          <a:solidFill>
            <a:srgbClr val="6FA66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4590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⚡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5262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Zero-setup, one-click run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4526280"/>
            <a:ext cx="6153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a single command (embedded Tomcat + bundled database); switches to MySQL with one config line.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367528"/>
            <a:ext cx="11091672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5486400"/>
            <a:ext cx="548640" cy="548640"/>
          </a:xfrm>
          <a:prstGeom prst="ellipse">
            <a:avLst/>
          </a:prstGeom>
          <a:solidFill>
            <a:srgbClr val="6FA66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4672" y="5486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🔒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542239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security touches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5257800" y="5422392"/>
            <a:ext cx="6153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password hashing, PreparedStatements (no SQL injection), server-side validation, session invalidation on logout.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6F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CONCEPT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Cookies vs. Sessions — done right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8463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77240" cy="77724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🍪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331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Cookies  ·  the guest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4612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cart  (guest_cart)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Recently-viewed items  (recently_viewed)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the browser — works with no login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across visits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793992" y="1920240"/>
            <a:ext cx="48463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59752" y="224028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59752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🔐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074152" y="2331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 ·  the member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251192" y="324612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Logged-in identity  (HttpSession)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in DB, keyed by session id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&amp; checkout — trusted, server-side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on logout via session.invalidate()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532120" y="3429000"/>
            <a:ext cx="1124712" cy="640080"/>
          </a:xfrm>
          <a:prstGeom prst="rightArrow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257800" y="4114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login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login the cookie cart is merged into the session cart and the cookie is deleted — the visitor never loses their basket.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6F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MVC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2514600"/>
            <a:ext cx="914400" cy="914400"/>
          </a:xfrm>
          <a:prstGeom prst="ellipse">
            <a:avLst/>
          </a:prstGeom>
          <a:solidFill>
            <a:srgbClr val="6FA6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🌐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404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+ JSTL views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UI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964180" y="3136392"/>
            <a:ext cx="512064" cy="402336"/>
          </a:xfrm>
          <a:prstGeom prst="rightArrow">
            <a:avLst/>
          </a:prstGeom>
          <a:solidFill>
            <a:srgbClr val="6FA663"/>
          </a:solidFill>
          <a:ln/>
        </p:spPr>
      </p:sp>
      <p:sp>
        <p:nvSpPr>
          <p:cNvPr id="10" name="Shape 8"/>
          <p:cNvSpPr/>
          <p:nvPr/>
        </p:nvSpPr>
        <p:spPr>
          <a:xfrm>
            <a:off x="3422904" y="219456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0144" y="2514600"/>
            <a:ext cx="914400" cy="914400"/>
          </a:xfrm>
          <a:prstGeom prst="ellipse">
            <a:avLst/>
          </a:prstGeom>
          <a:solidFill>
            <a:srgbClr val="6FA6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00144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⚙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422904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Servlets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422904" y="38404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@WebServlet + Filter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38444" y="3136392"/>
            <a:ext cx="512064" cy="402336"/>
          </a:xfrm>
          <a:prstGeom prst="rightArrow">
            <a:avLst/>
          </a:prstGeom>
          <a:solidFill>
            <a:srgbClr val="6FA663"/>
          </a:solidFill>
          <a:ln/>
        </p:spPr>
      </p:sp>
      <p:sp>
        <p:nvSpPr>
          <p:cNvPr id="16" name="Shape 14"/>
          <p:cNvSpPr/>
          <p:nvPr/>
        </p:nvSpPr>
        <p:spPr>
          <a:xfrm>
            <a:off x="6297168" y="219456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74408" y="2514600"/>
            <a:ext cx="914400" cy="914400"/>
          </a:xfrm>
          <a:prstGeom prst="ellipse">
            <a:avLst/>
          </a:prstGeom>
          <a:solidFill>
            <a:srgbClr val="6FA6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74408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🔌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297168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/ DAO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297168" y="38404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JDBC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712708" y="3136392"/>
            <a:ext cx="512064" cy="402336"/>
          </a:xfrm>
          <a:prstGeom prst="rightArrow">
            <a:avLst/>
          </a:prstGeom>
          <a:solidFill>
            <a:srgbClr val="6FA663"/>
          </a:solidFill>
          <a:ln/>
        </p:spPr>
      </p:sp>
      <p:sp>
        <p:nvSpPr>
          <p:cNvPr id="22" name="Shape 20"/>
          <p:cNvSpPr/>
          <p:nvPr/>
        </p:nvSpPr>
        <p:spPr>
          <a:xfrm>
            <a:off x="9171432" y="219456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48672" y="2514600"/>
            <a:ext cx="914400" cy="914400"/>
          </a:xfrm>
          <a:prstGeom prst="ellipse">
            <a:avLst/>
          </a:prstGeom>
          <a:solidFill>
            <a:srgbClr val="C9E0B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48672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7331A"/>
                </a:solidFill>
              </a:rPr>
              <a:t>🗄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171432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9171432" y="38404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(default)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MySQL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0749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flow left → right; every database call uses PreparedStatements. The same code runs on H2 or MySQL unchanged.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6F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tables, fully related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32888" cy="370332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2532888" cy="603504"/>
          </a:xfrm>
          <a:prstGeom prst="roundRect">
            <a:avLst>
              <a:gd name="adj" fmla="val 18182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2532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06040"/>
            <a:ext cx="20756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(PK)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(SHA-256)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wallet_balance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sustainability_points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01568" y="1828800"/>
            <a:ext cx="2532888" cy="370332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01568" y="1828800"/>
            <a:ext cx="2532888" cy="603504"/>
          </a:xfrm>
          <a:prstGeom prst="roundRect">
            <a:avLst>
              <a:gd name="adj" fmla="val 18182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01568" y="1828800"/>
            <a:ext cx="2532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606040"/>
            <a:ext cx="20756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listing_id (PK)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seller_id → students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category, price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item_condition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(AVAILABLE/SOLD)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54496" y="1828800"/>
            <a:ext cx="2532888" cy="370332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54496" y="1828800"/>
            <a:ext cx="2532888" cy="603504"/>
          </a:xfrm>
          <a:prstGeom prst="roundRect">
            <a:avLst>
              <a:gd name="adj" fmla="val 18182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54496" y="1828800"/>
            <a:ext cx="2532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cart_items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2606040"/>
            <a:ext cx="20756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cart_id (PK)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listing_id → listings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added_at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07424" y="1828800"/>
            <a:ext cx="2532888" cy="370332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07424" y="1828800"/>
            <a:ext cx="2532888" cy="603504"/>
          </a:xfrm>
          <a:prstGeom prst="roundRect">
            <a:avLst>
              <a:gd name="adj" fmla="val 18182"/>
            </a:avLst>
          </a:prstGeom>
          <a:solidFill>
            <a:srgbClr val="2C5F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07424" y="1828800"/>
            <a:ext cx="2532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9363456" y="2606040"/>
            <a:ext cx="20756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txn_id (PK)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buyer_id → students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listing_id → listings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txn_date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has many listings and transactions; a listing has one seller and appears in carts and one sale.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list-to-purchase cycle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53384" cy="1600200"/>
          </a:xfrm>
          <a:prstGeom prst="roundRect">
            <a:avLst>
              <a:gd name="adj" fmla="val 6857"/>
            </a:avLst>
          </a:prstGeom>
          <a:solidFill>
            <a:srgbClr val="24521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685800" cy="68580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7331A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258568"/>
            <a:ext cx="1990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as guest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743200"/>
            <a:ext cx="1990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listings, add one to the cart — no login.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7784" y="1965960"/>
            <a:ext cx="3453384" cy="1600200"/>
          </a:xfrm>
          <a:prstGeom prst="roundRect">
            <a:avLst>
              <a:gd name="adj" fmla="val 6857"/>
            </a:avLst>
          </a:prstGeom>
          <a:solidFill>
            <a:srgbClr val="24521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7824" y="2286000"/>
            <a:ext cx="685800" cy="68580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87824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7331A"/>
                </a:solidFill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556504" y="2258568"/>
            <a:ext cx="1990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556504" y="2743200"/>
            <a:ext cx="1990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guest cart migrates into your account.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6928" y="1965960"/>
            <a:ext cx="3453384" cy="1600200"/>
          </a:xfrm>
          <a:prstGeom prst="roundRect">
            <a:avLst>
              <a:gd name="adj" fmla="val 6857"/>
            </a:avLst>
          </a:prstGeom>
          <a:solidFill>
            <a:srgbClr val="24521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6968" y="2286000"/>
            <a:ext cx="685800" cy="68580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6968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7331A"/>
                </a:solidFill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375648" y="2258568"/>
            <a:ext cx="1990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cart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375648" y="2743200"/>
            <a:ext cx="1990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items + your wallet balance.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453384" cy="1600200"/>
          </a:xfrm>
          <a:prstGeom prst="roundRect">
            <a:avLst>
              <a:gd name="adj" fmla="val 6857"/>
            </a:avLst>
          </a:prstGeom>
          <a:solidFill>
            <a:srgbClr val="24521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206240"/>
            <a:ext cx="685800" cy="68580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7331A"/>
                </a:solidFill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4178808"/>
            <a:ext cx="1990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737360" y="4663440"/>
            <a:ext cx="1990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debited, seller credited.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67784" y="3886200"/>
            <a:ext cx="3453384" cy="1600200"/>
          </a:xfrm>
          <a:prstGeom prst="roundRect">
            <a:avLst>
              <a:gd name="adj" fmla="val 6857"/>
            </a:avLst>
          </a:prstGeom>
          <a:solidFill>
            <a:srgbClr val="24521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7824" y="4206240"/>
            <a:ext cx="685800" cy="68580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87824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7331A"/>
                </a:solidFill>
              </a:rPr>
              <a:t>5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556504" y="4178808"/>
            <a:ext cx="1990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556504" y="4663440"/>
            <a:ext cx="1990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appears under “bought.”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86928" y="3886200"/>
            <a:ext cx="3453384" cy="1600200"/>
          </a:xfrm>
          <a:prstGeom prst="roundRect">
            <a:avLst>
              <a:gd name="adj" fmla="val 6857"/>
            </a:avLst>
          </a:prstGeom>
          <a:solidFill>
            <a:srgbClr val="24521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06968" y="4206240"/>
            <a:ext cx="685800" cy="68580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06968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7331A"/>
                </a:solidFill>
              </a:rPr>
              <a:t>6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9375648" y="4178808"/>
            <a:ext cx="1990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9375648" y="4663440"/>
            <a:ext cx="1990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down, sustainability points up.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6F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WIN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 vs. a typical project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17236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student project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97480"/>
            <a:ext cx="45857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✖"/>
            </a:pPr>
            <a:r>
              <a:rPr lang="en-US" sz="15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login before you can browse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✖"/>
            </a:pPr>
            <a:r>
              <a:rPr lang="en-US" sz="15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“Order placed” with no real payment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✖"/>
            </a:pPr>
            <a:r>
              <a:rPr lang="en-US" sz="15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Login-only cart, lost if you leave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✖"/>
            </a:pPr>
            <a:r>
              <a:rPr lang="en-US" sz="15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full Tomcat + MySQL install to run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✖"/>
            </a:pPr>
            <a:r>
              <a:rPr lang="en-US" sz="150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Plain-text passwords, string-built SQL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23076" y="1874520"/>
            <a:ext cx="5317236" cy="3840480"/>
          </a:xfrm>
          <a:prstGeom prst="roundRect">
            <a:avLst>
              <a:gd name="adj" fmla="val 285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88836" y="210312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Circular Campus Marketplace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688836" y="2697480"/>
            <a:ext cx="45857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50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guest browsing + guest cart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50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wallet: money moves buyer → seller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50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migrates cookie → session on login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50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run; MySQL by one config line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50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passwords + PreparedStatements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6F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17236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640080" cy="640080"/>
          </a:xfrm>
          <a:prstGeom prst="ellipse">
            <a:avLst/>
          </a:prstGeom>
          <a:solidFill>
            <a:srgbClr val="6FA6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✔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971800"/>
            <a:ext cx="440283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5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modules working end-to-end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5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→ session cart migration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5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+ atomic checkout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15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points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323076" y="1874520"/>
            <a:ext cx="5317236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261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88836" y="2148840"/>
            <a:ext cx="640080" cy="64008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88836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511796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780276" y="2971800"/>
            <a:ext cx="440283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5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photos &amp; image upload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5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/ reviews per sale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5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pagination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550" dirty="0">
                <a:solidFill>
                  <a:srgbClr val="5B6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 + CSRF tokens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3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731520" y="292608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dirty="0">
                <a:solidFill>
                  <a:srgbClr val="1F3F1B"/>
                </a:solidFill>
              </a:rPr>
              <a:t>♻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Campus Marketplace  —  Resale, Cart &amp; Wallet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E9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demo welcome.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8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 github.com/______________/circular-campus-marketplace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Circular Campus Marketplace</dc:title>
  <dc:subject>PptxGenJS Presentation</dc:subject>
  <dc:creator>Circular Campus Marketplace</dc:creator>
  <cp:lastModifiedBy>Circular Campus Marketplace</cp:lastModifiedBy>
  <cp:revision>1</cp:revision>
  <dcterms:created xsi:type="dcterms:W3CDTF">2026-09-10T12:12:41Z</dcterms:created>
  <dcterms:modified xsi:type="dcterms:W3CDTF">2026-09-10T12:12:41Z</dcterms:modified>
</cp:coreProperties>
</file>